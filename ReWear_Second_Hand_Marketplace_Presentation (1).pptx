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731520"/>
            <a:ext cx="4389120" cy="4389120"/>
          </a:xfrm>
          <a:prstGeom prst="ellipse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81160" y="-137160"/>
            <a:ext cx="3200400" cy="3200400"/>
          </a:xfrm>
          <a:prstGeom prst="ellipse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457200"/>
            <a:ext cx="2011680" cy="2011680"/>
          </a:xfrm>
          <a:prstGeom prst="ellipse">
            <a:avLst/>
          </a:prstGeom>
          <a:solidFill>
            <a:srgbClr val="0F1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3429000"/>
            <a:ext cx="1828800" cy="1828800"/>
          </a:xfrm>
          <a:prstGeom prst="ellipse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96528" y="3456432"/>
            <a:ext cx="1600200" cy="1417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6500" b="1" i="0">
                <a:solidFill>
                  <a:srgbClr val="0F1C23"/>
                </a:solidFill>
                <a:latin typeface="Aptos"/>
              </a:rPr>
              <a:t>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85800"/>
            <a:ext cx="704088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5BC290"/>
                </a:solidFill>
                <a:latin typeface="Aptos"/>
              </a:rPr>
              <a:t>HACKATHON PROJECT  •  PROBLEM STATEMENT 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6858000" cy="9144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5000" b="1" i="0">
                <a:solidFill>
                  <a:srgbClr val="F6F9F7"/>
                </a:solidFill>
                <a:latin typeface="Aptos"/>
              </a:rPr>
              <a:t>ReWear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50592"/>
            <a:ext cx="731520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C1F1D5"/>
                </a:solidFill>
                <a:latin typeface="Aptos"/>
              </a:rPr>
              <a:t>Second-Hand Product Marketplace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182112"/>
            <a:ext cx="6766560" cy="6858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800" b="0" i="0">
                <a:solidFill>
                  <a:srgbClr val="B1C4C2"/>
                </a:solidFill>
                <a:latin typeface="Aptos"/>
              </a:rPr>
              <a:t>A MERN-stack platform for giving pre-owned products a second life.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800600"/>
            <a:ext cx="2880360" cy="566928"/>
          </a:xfrm>
          <a:prstGeom prst="roundRect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946904"/>
            <a:ext cx="260604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0F1C23"/>
                </a:solidFill>
                <a:latin typeface="Aptos"/>
              </a:rPr>
              <a:t>BUY  •  SELL  •  REUSE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6172200"/>
            <a:ext cx="36576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B1C4C2"/>
                </a:solidFill>
                <a:latin typeface="Aptos"/>
              </a:rP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BC290"/>
                </a:solidFill>
                <a:latin typeface="Aptos"/>
              </a:rPr>
              <a:t>PROBLEM &amp;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45720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1100" b="1" i="0">
                <a:solidFill>
                  <a:srgbClr val="B1C4C2"/>
                </a:solidFill>
                <a:latin typeface="Aptos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927080" cy="16459"/>
          </a:xfrm>
          <a:prstGeom prst="rect">
            <a:avLst/>
          </a:prstGeom>
          <a:solidFill>
            <a:srgbClr val="435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900" b="1" i="0">
                <a:solidFill>
                  <a:srgbClr val="F6F9F7"/>
                </a:solidFill>
                <a:latin typeface="Aptos"/>
              </a:rPr>
              <a:t>Why a second-hand marketplace?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1051560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B1C4C2"/>
                </a:solidFill>
                <a:latin typeface="Aptos"/>
              </a:rPr>
              <a:t>Useful products sit unused while others need affordable alternatives.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3429000" cy="2240280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40280"/>
            <a:ext cx="64008" cy="2240280"/>
          </a:xfrm>
          <a:prstGeom prst="rect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404872"/>
            <a:ext cx="438912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5BC29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404872"/>
            <a:ext cx="2514600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F6F9F7"/>
                </a:solidFill>
                <a:latin typeface="Aptos"/>
              </a:rPr>
              <a:t>Unused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898648"/>
            <a:ext cx="2971800" cy="1490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Phones, books, clothing, furniture and gadgets are often left unused.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240280"/>
            <a:ext cx="3429000" cy="2240280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240280"/>
            <a:ext cx="64008" cy="2240280"/>
          </a:xfrm>
          <a:prstGeom prst="rect">
            <a:avLst/>
          </a:prstGeom>
          <a:solidFill>
            <a:srgbClr val="FFA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404872"/>
            <a:ext cx="438912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FFAE66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404872"/>
            <a:ext cx="2514600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F6F9F7"/>
                </a:solidFill>
                <a:latin typeface="Aptos"/>
              </a:rPr>
              <a:t>Affordability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2898648"/>
            <a:ext cx="2971800" cy="1490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New products can be expensive, especially for students and first-time buyers.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240280"/>
            <a:ext cx="3429000" cy="2240280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2240280"/>
            <a:ext cx="64008" cy="2240280"/>
          </a:xfrm>
          <a:prstGeom prst="rect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2404872"/>
            <a:ext cx="438912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5BC290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2404872"/>
            <a:ext cx="2514600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F6F9F7"/>
                </a:solidFill>
                <a:latin typeface="Aptos"/>
              </a:rPr>
              <a:t>Waste &amp; resources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3" y="2898648"/>
            <a:ext cx="2971800" cy="1490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Discarding usable items creates waste and misses opportunities for reuse.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074920"/>
            <a:ext cx="1033272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C1F1D5"/>
                </a:solidFill>
                <a:latin typeface="Aptos"/>
              </a:rPr>
              <a:t>Opportunity: make pre-owned goods simple to discover, list and exchange.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BC290"/>
                </a:solidFill>
                <a:latin typeface="Aptos"/>
              </a:rP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45720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1100" b="1" i="0">
                <a:solidFill>
                  <a:srgbClr val="B1C4C2"/>
                </a:solidFill>
                <a:latin typeface="Aptos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927080" cy="16459"/>
          </a:xfrm>
          <a:prstGeom prst="rect">
            <a:avLst/>
          </a:prstGeom>
          <a:solidFill>
            <a:srgbClr val="435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900" b="1" i="0">
                <a:solidFill>
                  <a:srgbClr val="F6F9F7"/>
                </a:solidFill>
                <a:latin typeface="Aptos"/>
              </a:rPr>
              <a:t>Meet ReWear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1051560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B1C4C2"/>
                </a:solidFill>
                <a:latin typeface="Aptos"/>
              </a:rPr>
              <a:t>One place to discover, list and manage pre-owned products.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5212080" cy="1417320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057400"/>
            <a:ext cx="64008" cy="1417320"/>
          </a:xfrm>
          <a:prstGeom prst="rect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21992"/>
            <a:ext cx="4800600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F6F9F7"/>
                </a:solidFill>
                <a:latin typeface="Aptos"/>
              </a:rPr>
              <a:t>For buyers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715768"/>
            <a:ext cx="4754880" cy="66751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Browse listings, search by keyword, filter products and inspect details.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57400"/>
            <a:ext cx="5212080" cy="1417320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057400"/>
            <a:ext cx="64008" cy="1417320"/>
          </a:xfrm>
          <a:prstGeom prst="rect">
            <a:avLst/>
          </a:prstGeom>
          <a:solidFill>
            <a:srgbClr val="FFA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21992"/>
            <a:ext cx="4800600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F6F9F7"/>
                </a:solidFill>
                <a:latin typeface="Aptos"/>
              </a:rPr>
              <a:t>For sellers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715768"/>
            <a:ext cx="4754880" cy="66751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Create listings with descriptions, prices and images; manage your items.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794760"/>
            <a:ext cx="5212080" cy="1417320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794760"/>
            <a:ext cx="64008" cy="1417320"/>
          </a:xfrm>
          <a:prstGeom prst="rect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59352"/>
            <a:ext cx="4800600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F6F9F7"/>
                </a:solidFill>
                <a:latin typeface="Aptos"/>
              </a:rPr>
              <a:t>For the community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" y="4453128"/>
            <a:ext cx="4754880" cy="66751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Encourage reuse and help useful products find new owners.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94760"/>
            <a:ext cx="5212080" cy="1417320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794760"/>
            <a:ext cx="64008" cy="1417320"/>
          </a:xfrm>
          <a:prstGeom prst="rect">
            <a:avLst/>
          </a:prstGeom>
          <a:solidFill>
            <a:srgbClr val="FFA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959352"/>
            <a:ext cx="4800600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F6F9F7"/>
                </a:solidFill>
                <a:latin typeface="Aptos"/>
              </a:rPr>
              <a:t>For administrators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4453128"/>
            <a:ext cx="4754880" cy="66751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Provide an admin-focused view for marketplace management.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715000"/>
            <a:ext cx="1033272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300" b="0" i="0">
                <a:solidFill>
                  <a:srgbClr val="B1C4C2"/>
                </a:solidFill>
                <a:latin typeface="Aptos"/>
              </a:rPr>
              <a:t>Design principle: a clear, student-friendly experience with a sustainability-first identity.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BC290"/>
                </a:solidFill>
                <a:latin typeface="Aptos"/>
              </a:rPr>
              <a:t>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45720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1100" b="1" i="0">
                <a:solidFill>
                  <a:srgbClr val="B1C4C2"/>
                </a:solidFill>
                <a:latin typeface="Aptos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927080" cy="16459"/>
          </a:xfrm>
          <a:prstGeom prst="rect">
            <a:avLst/>
          </a:prstGeom>
          <a:solidFill>
            <a:srgbClr val="435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900" b="1" i="0">
                <a:solidFill>
                  <a:srgbClr val="F6F9F7"/>
                </a:solidFill>
                <a:latin typeface="Aptos"/>
              </a:rPr>
              <a:t>What the platform can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1051560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B1C4C2"/>
                </a:solidFill>
                <a:latin typeface="Aptos"/>
              </a:rPr>
              <a:t>The main features support the everyday marketplace journey.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3429000" cy="1463040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011680"/>
            <a:ext cx="64008" cy="1463040"/>
          </a:xfrm>
          <a:prstGeom prst="rect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76272"/>
            <a:ext cx="438912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5BC29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76272"/>
            <a:ext cx="2514600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F6F9F7"/>
                </a:solidFill>
                <a:latin typeface="Aptos"/>
              </a:rPr>
              <a:t>Authentication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670048"/>
            <a:ext cx="2971800" cy="7132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Register and sign in with token-based authentication.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11680"/>
            <a:ext cx="3429000" cy="1463040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011680"/>
            <a:ext cx="64008" cy="1463040"/>
          </a:xfrm>
          <a:prstGeom prst="rect">
            <a:avLst/>
          </a:prstGeom>
          <a:solidFill>
            <a:srgbClr val="FFA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176272"/>
            <a:ext cx="438912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FFAE66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176272"/>
            <a:ext cx="2514600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F6F9F7"/>
                </a:solidFill>
                <a:latin typeface="Aptos"/>
              </a:rPr>
              <a:t>Product listings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2670048"/>
            <a:ext cx="2971800" cy="7132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Create, view, update and remove listings.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011680"/>
            <a:ext cx="3429000" cy="1463040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2011680"/>
            <a:ext cx="64008" cy="1463040"/>
          </a:xfrm>
          <a:prstGeom prst="rect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2176272"/>
            <a:ext cx="438912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5BC290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2176272"/>
            <a:ext cx="2514600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F6F9F7"/>
                </a:solidFill>
                <a:latin typeface="Aptos"/>
              </a:rPr>
              <a:t>Search &amp; filters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3" y="2670048"/>
            <a:ext cx="2971800" cy="7132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Find products with keywords and category/price filters.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94760"/>
            <a:ext cx="3429000" cy="1463040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794760"/>
            <a:ext cx="64008" cy="1463040"/>
          </a:xfrm>
          <a:prstGeom prst="rect">
            <a:avLst/>
          </a:prstGeom>
          <a:solidFill>
            <a:srgbClr val="FFA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3959352"/>
            <a:ext cx="438912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FFAE66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959352"/>
            <a:ext cx="2514600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F6F9F7"/>
                </a:solidFill>
                <a:latin typeface="Aptos"/>
              </a:rPr>
              <a:t>User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" y="4453128"/>
            <a:ext cx="2971800" cy="7132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Manage personal listings and account activity.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794760"/>
            <a:ext cx="3429000" cy="1463040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0" y="3794760"/>
            <a:ext cx="64008" cy="1463040"/>
          </a:xfrm>
          <a:prstGeom prst="rect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0288" y="3959352"/>
            <a:ext cx="438912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5BC290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3959352"/>
            <a:ext cx="2514600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F6F9F7"/>
                </a:solidFill>
                <a:latin typeface="Aptos"/>
              </a:rPr>
              <a:t>Admin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6864" y="4453128"/>
            <a:ext cx="2971800" cy="7132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Provide an admin view for marketplace management.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3794760"/>
            <a:ext cx="3429000" cy="1463040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92440" y="3794760"/>
            <a:ext cx="64008" cy="1463040"/>
          </a:xfrm>
          <a:prstGeom prst="rect">
            <a:avLst/>
          </a:prstGeom>
          <a:solidFill>
            <a:srgbClr val="FFA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93608" y="3959352"/>
            <a:ext cx="438912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FFAE66"/>
                </a:solidFill>
                <a:latin typeface="Aptos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3959352"/>
            <a:ext cx="2514600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F6F9F7"/>
                </a:solidFill>
                <a:latin typeface="Aptos"/>
              </a:rPr>
              <a:t>Demo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0183" y="4453128"/>
            <a:ext cx="2971800" cy="7132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Seed sample products to preview the marketplace.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989320"/>
            <a:ext cx="10515600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000" b="0" i="0">
                <a:solidFill>
                  <a:srgbClr val="B1C4C2"/>
                </a:solidFill>
                <a:latin typeface="Aptos"/>
              </a:rPr>
              <a:t>Current starter scope excludes payments and live chat; end-to-end testing is still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BC290"/>
                </a:solidFill>
                <a:latin typeface="Aptos"/>
              </a:rPr>
              <a:t>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45720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1100" b="1" i="0">
                <a:solidFill>
                  <a:srgbClr val="B1C4C2"/>
                </a:solidFill>
                <a:latin typeface="Aptos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927080" cy="16459"/>
          </a:xfrm>
          <a:prstGeom prst="rect">
            <a:avLst/>
          </a:prstGeom>
          <a:solidFill>
            <a:srgbClr val="435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900" b="1" i="0">
                <a:solidFill>
                  <a:srgbClr val="F6F9F7"/>
                </a:solidFill>
                <a:latin typeface="Aptos"/>
              </a:rPr>
              <a:t>How a user interacts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1051560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B1C4C2"/>
                </a:solidFill>
                <a:latin typeface="Aptos"/>
              </a:rPr>
              <a:t>A simple flow from discovery to listing management.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2423160"/>
            <a:ext cx="822960" cy="822960"/>
          </a:xfrm>
          <a:prstGeom prst="ellipse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78608"/>
            <a:ext cx="822960" cy="3200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2000" b="1" i="0">
                <a:solidFill>
                  <a:srgbClr val="0F1C23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93008"/>
            <a:ext cx="182880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F6F9F7"/>
                </a:solidFill>
                <a:latin typeface="Aptos"/>
              </a:rPr>
              <a:t>Create account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77639"/>
            <a:ext cx="1828800" cy="6400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100" b="0" i="0">
                <a:solidFill>
                  <a:srgbClr val="B1C4C2"/>
                </a:solidFill>
                <a:latin typeface="Aptos"/>
              </a:rPr>
              <a:t>Register or sign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75688" y="2587752"/>
            <a:ext cx="50292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2300" b="1" i="0">
                <a:solidFill>
                  <a:srgbClr val="B1C4C2"/>
                </a:solidFill>
                <a:latin typeface="Aptos"/>
              </a:rP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3429000" y="2423160"/>
            <a:ext cx="822960" cy="822960"/>
          </a:xfrm>
          <a:prstGeom prst="ellipse">
            <a:avLst/>
          </a:prstGeom>
          <a:solidFill>
            <a:srgbClr val="FFA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578608"/>
            <a:ext cx="822960" cy="3200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2000" b="1" i="0">
                <a:solidFill>
                  <a:srgbClr val="0F1C23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79" y="3493008"/>
            <a:ext cx="182880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F6F9F7"/>
                </a:solidFill>
                <a:latin typeface="Aptos"/>
              </a:rPr>
              <a:t>Explore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79" y="3977639"/>
            <a:ext cx="1828800" cy="6400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100" b="0" i="0">
                <a:solidFill>
                  <a:srgbClr val="B1C4C2"/>
                </a:solidFill>
                <a:latin typeface="Aptos"/>
              </a:rPr>
              <a:t>Search and filter products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587752"/>
            <a:ext cx="50292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2300" b="1" i="0">
                <a:solidFill>
                  <a:srgbClr val="B1C4C2"/>
                </a:solidFill>
                <a:latin typeface="Aptos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5760720" y="2423160"/>
            <a:ext cx="822960" cy="822960"/>
          </a:xfrm>
          <a:prstGeom prst="ellipse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2578608"/>
            <a:ext cx="822960" cy="3200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2000" b="1" i="0">
                <a:solidFill>
                  <a:srgbClr val="0F1C23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493008"/>
            <a:ext cx="182880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F6F9F7"/>
                </a:solidFill>
                <a:latin typeface="Aptos"/>
              </a:rPr>
              <a:t>Evaluate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977639"/>
            <a:ext cx="1828800" cy="6400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100" b="0" i="0">
                <a:solidFill>
                  <a:srgbClr val="B1C4C2"/>
                </a:solidFill>
                <a:latin typeface="Aptos"/>
              </a:rPr>
              <a:t>Review product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2587752"/>
            <a:ext cx="50292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2300" b="1" i="0">
                <a:solidFill>
                  <a:srgbClr val="B1C4C2"/>
                </a:solidFill>
                <a:latin typeface="Aptos"/>
              </a:rP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8092440" y="2423160"/>
            <a:ext cx="822960" cy="822960"/>
          </a:xfrm>
          <a:prstGeom prst="ellipse">
            <a:avLst/>
          </a:prstGeom>
          <a:solidFill>
            <a:srgbClr val="FFA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2578608"/>
            <a:ext cx="822960" cy="3200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2000" b="1" i="0">
                <a:solidFill>
                  <a:srgbClr val="0F1C23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19" y="3493008"/>
            <a:ext cx="182880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F6F9F7"/>
                </a:solidFill>
                <a:latin typeface="Aptos"/>
              </a:rPr>
              <a:t>List an item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19" y="3977639"/>
            <a:ext cx="1828800" cy="6400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100" b="0" i="0">
                <a:solidFill>
                  <a:srgbClr val="B1C4C2"/>
                </a:solidFill>
                <a:latin typeface="Aptos"/>
              </a:rPr>
              <a:t>Add price, image and description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0847" y="2587752"/>
            <a:ext cx="50292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2300" b="1" i="0">
                <a:solidFill>
                  <a:srgbClr val="B1C4C2"/>
                </a:solidFill>
                <a:latin typeface="Aptos"/>
              </a:rPr>
              <a:t>→</a:t>
            </a:r>
          </a:p>
        </p:txBody>
      </p:sp>
      <p:sp>
        <p:nvSpPr>
          <p:cNvPr id="27" name="Oval 26"/>
          <p:cNvSpPr/>
          <p:nvPr/>
        </p:nvSpPr>
        <p:spPr>
          <a:xfrm>
            <a:off x="10424160" y="2423160"/>
            <a:ext cx="822960" cy="822960"/>
          </a:xfrm>
          <a:prstGeom prst="ellipse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24160" y="2578608"/>
            <a:ext cx="822960" cy="3200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2000" b="1" i="0">
                <a:solidFill>
                  <a:srgbClr val="0F1C23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3493008"/>
            <a:ext cx="182880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F6F9F7"/>
                </a:solidFill>
                <a:latin typeface="Aptos"/>
              </a:rPr>
              <a:t>Manage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3977639"/>
            <a:ext cx="1828800" cy="6400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100" b="0" i="0">
                <a:solidFill>
                  <a:srgbClr val="B1C4C2"/>
                </a:solidFill>
                <a:latin typeface="Aptos"/>
              </a:rPr>
              <a:t>Update or remove your listing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5257800"/>
            <a:ext cx="10332720" cy="594360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413248"/>
            <a:ext cx="996696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C1F1D5"/>
                </a:solidFill>
                <a:latin typeface="Aptos"/>
              </a:rPr>
              <a:t>Goal: reduce friction for both buyers and sellers.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BC290"/>
                </a:solidFill>
                <a:latin typeface="Aptos"/>
              </a:rP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45720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1100" b="1" i="0">
                <a:solidFill>
                  <a:srgbClr val="B1C4C2"/>
                </a:solidFill>
                <a:latin typeface="Aptos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927080" cy="16459"/>
          </a:xfrm>
          <a:prstGeom prst="rect">
            <a:avLst/>
          </a:prstGeom>
          <a:solidFill>
            <a:srgbClr val="435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900" b="1" i="0">
                <a:solidFill>
                  <a:srgbClr val="F6F9F7"/>
                </a:solidFill>
                <a:latin typeface="Aptos"/>
              </a:rPr>
              <a:t>Built with the MERN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1051560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B1C4C2"/>
                </a:solidFill>
                <a:latin typeface="Aptos"/>
              </a:rPr>
              <a:t>JavaScript technologies across frontend, backend and database.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2880360" cy="713232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956815"/>
            <a:ext cx="25146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5BC290"/>
                </a:solidFill>
                <a:latin typeface="Aptos"/>
              </a:rPr>
              <a:t>React +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258568"/>
            <a:ext cx="251460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B1C4C2"/>
                </a:solidFill>
                <a:latin typeface="Aptos"/>
              </a:rPr>
              <a:t>Frontend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2039112"/>
            <a:ext cx="45720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2200" b="1" i="0">
                <a:solidFill>
                  <a:srgbClr val="B1C4C2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874519"/>
            <a:ext cx="6629400" cy="713232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057400"/>
            <a:ext cx="6035040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F6F9F7"/>
                </a:solidFill>
                <a:latin typeface="Aptos"/>
              </a:rPr>
              <a:t>Pages, forms and product cards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807208"/>
            <a:ext cx="2880360" cy="713232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889503"/>
            <a:ext cx="25146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FAE66"/>
                </a:solidFill>
                <a:latin typeface="Aptos"/>
              </a:rPr>
              <a:t>Node.js + Express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3191256"/>
            <a:ext cx="251460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B1C4C2"/>
                </a:solidFill>
                <a:latin typeface="Aptos"/>
              </a:rPr>
              <a:t>Backend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971800"/>
            <a:ext cx="45720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2200" b="1" i="0">
                <a:solidFill>
                  <a:srgbClr val="B1C4C2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2807208"/>
            <a:ext cx="6629400" cy="713232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2990088"/>
            <a:ext cx="6035040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F6F9F7"/>
                </a:solidFill>
                <a:latin typeface="Aptos"/>
              </a:rPr>
              <a:t>Routes, validation and business logic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739896"/>
            <a:ext cx="2880360" cy="713232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822191"/>
            <a:ext cx="25146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5BC290"/>
                </a:solidFill>
                <a:latin typeface="Aptos"/>
              </a:rPr>
              <a:t>MongoDB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4123944"/>
            <a:ext cx="251460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B1C4C2"/>
                </a:solidFill>
                <a:latin typeface="Aptos"/>
              </a:rPr>
              <a:t>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3904487"/>
            <a:ext cx="45720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2200" b="1" i="0">
                <a:solidFill>
                  <a:srgbClr val="B1C4C2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739896"/>
            <a:ext cx="6629400" cy="713232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3922776"/>
            <a:ext cx="6035040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F6F9F7"/>
                </a:solidFill>
                <a:latin typeface="Aptos"/>
              </a:rPr>
              <a:t>User accounts and product listings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672583"/>
            <a:ext cx="2880360" cy="713232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4754879"/>
            <a:ext cx="25146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FAE66"/>
                </a:solidFill>
                <a:latin typeface="Aptos"/>
              </a:rPr>
              <a:t>JWT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5056631"/>
            <a:ext cx="251460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B1C4C2"/>
                </a:solidFill>
                <a:latin typeface="Aptos"/>
              </a:rPr>
              <a:t>Authentication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4837175"/>
            <a:ext cx="45720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2200" b="1" i="0">
                <a:solidFill>
                  <a:srgbClr val="B1C4C2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0" y="4672583"/>
            <a:ext cx="6629400" cy="713232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4855464"/>
            <a:ext cx="6035040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F6F9F7"/>
                </a:solidFill>
                <a:latin typeface="Aptos"/>
              </a:rPr>
              <a:t>Token-based authentication 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897880"/>
            <a:ext cx="1024128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400" b="1" i="0">
                <a:solidFill>
                  <a:srgbClr val="C1F1D5"/>
                </a:solidFill>
                <a:latin typeface="Aptos"/>
              </a:rPr>
              <a:t>Typical request: React UI → Express API → MongoDB → response to the UI.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BC290"/>
                </a:solidFill>
                <a:latin typeface="Aptos"/>
              </a:rPr>
              <a:t>INTERFACE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45720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1100" b="1" i="0">
                <a:solidFill>
                  <a:srgbClr val="B1C4C2"/>
                </a:solidFill>
                <a:latin typeface="Aptos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927080" cy="16459"/>
          </a:xfrm>
          <a:prstGeom prst="rect">
            <a:avLst/>
          </a:prstGeom>
          <a:solidFill>
            <a:srgbClr val="435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900" b="1" i="0">
                <a:solidFill>
                  <a:srgbClr val="F6F9F7"/>
                </a:solidFill>
                <a:latin typeface="Aptos"/>
              </a:rPr>
              <a:t>Marketplace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1051560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B1C4C2"/>
                </a:solidFill>
                <a:latin typeface="Aptos"/>
              </a:rPr>
              <a:t>The design keeps important actions visible and easy to understand.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6675120" cy="4023360"/>
          </a:xfrm>
          <a:prstGeom prst="roundRect">
            <a:avLst/>
          </a:prstGeom>
          <a:solidFill>
            <a:srgbClr val="EB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6675120" cy="438912"/>
          </a:xfrm>
          <a:prstGeom prst="rect">
            <a:avLst/>
          </a:prstGeom>
          <a:solidFill>
            <a:srgbClr val="DC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1965960"/>
            <a:ext cx="100584" cy="100584"/>
          </a:xfrm>
          <a:prstGeom prst="ellipse">
            <a:avLst/>
          </a:prstGeom>
          <a:solidFill>
            <a:srgbClr val="FFA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8992" y="1965960"/>
            <a:ext cx="100584" cy="100584"/>
          </a:xfrm>
          <a:prstGeom prst="ellipse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9304" y="1965960"/>
            <a:ext cx="100584" cy="100584"/>
          </a:xfrm>
          <a:prstGeom prst="ellipse">
            <a:avLst/>
          </a:prstGeom>
          <a:solidFill>
            <a:srgbClr val="B1C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1938528"/>
            <a:ext cx="557784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0F1C23"/>
                </a:solidFill>
                <a:latin typeface="Aptos"/>
              </a:rPr>
              <a:t>ReWear     Browse      Sell an item                         Sign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539496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900" b="1" i="0">
                <a:solidFill>
                  <a:srgbClr val="19352C"/>
                </a:solidFill>
                <a:latin typeface="Aptos"/>
              </a:rPr>
              <a:t>Find your next favorite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880360"/>
            <a:ext cx="539496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48685B"/>
                </a:solidFill>
                <a:latin typeface="Aptos"/>
              </a:rPr>
              <a:t>Good finds. Lower waste.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3337560"/>
            <a:ext cx="1664208" cy="1920240"/>
          </a:xfrm>
          <a:prstGeom prst="roundRect">
            <a:avLst/>
          </a:prstGeom>
          <a:solidFill>
            <a:srgbClr val="E0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62456" y="3584448"/>
            <a:ext cx="841248" cy="841248"/>
          </a:xfrm>
          <a:prstGeom prst="ellipse">
            <a:avLst/>
          </a:prstGeom>
          <a:solidFill>
            <a:srgbClr val="B1C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8176" y="3803904"/>
            <a:ext cx="749808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0F1C23"/>
                </a:solidFill>
                <a:latin typeface="Aptos"/>
              </a:rPr>
              <a:t>◖))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572000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9352C"/>
                </a:solidFill>
                <a:latin typeface="Aptos"/>
              </a:rPr>
              <a:t>Headphones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4892040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7550"/>
                </a:solidFill>
                <a:latin typeface="Aptos"/>
              </a:rPr>
              <a:t>₹1,200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98648" y="3337560"/>
            <a:ext cx="1664208" cy="1920240"/>
          </a:xfrm>
          <a:prstGeom prst="roundRect">
            <a:avLst/>
          </a:prstGeom>
          <a:solidFill>
            <a:srgbClr val="E7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00984" y="3584448"/>
            <a:ext cx="841248" cy="841248"/>
          </a:xfrm>
          <a:prstGeom prst="ellipse">
            <a:avLst/>
          </a:prstGeom>
          <a:solidFill>
            <a:srgbClr val="D1B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46704" y="3803904"/>
            <a:ext cx="749808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0F1C23"/>
                </a:solidFill>
                <a:latin typeface="Aptos"/>
              </a:rPr>
              <a:t>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08376" y="4572000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9352C"/>
                </a:solidFill>
                <a:latin typeface="Aptos"/>
              </a:rPr>
              <a:t>Backpack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08376" y="4892040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7550"/>
                </a:solidFill>
                <a:latin typeface="Aptos"/>
              </a:rPr>
              <a:t>₹650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37176" y="3337560"/>
            <a:ext cx="1664208" cy="1920240"/>
          </a:xfrm>
          <a:prstGeom prst="roundRect">
            <a:avLst/>
          </a:prstGeom>
          <a:solidFill>
            <a:srgbClr val="DE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239512" y="3584448"/>
            <a:ext cx="841248" cy="841248"/>
          </a:xfrm>
          <a:prstGeom prst="ellipse">
            <a:avLst/>
          </a:prstGeom>
          <a:solidFill>
            <a:srgbClr val="B1C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803904"/>
            <a:ext cx="749808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0F1C23"/>
                </a:solidFill>
                <a:latin typeface="Aptos"/>
              </a:rPr>
              <a:t>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6904" y="4572000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9352C"/>
                </a:solidFill>
                <a:latin typeface="Aptos"/>
              </a:rPr>
              <a:t>Study lamp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46904" y="4892040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7550"/>
                </a:solidFill>
                <a:latin typeface="Aptos"/>
              </a:rPr>
              <a:t>₹450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2103120"/>
            <a:ext cx="347472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F6F9F7"/>
                </a:solidFill>
                <a:latin typeface="Aptos"/>
              </a:rPr>
              <a:t>Planned screens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45552" y="2651760"/>
            <a:ext cx="338328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B1C4C2"/>
                </a:solidFill>
                <a:latin typeface="Aptos"/>
              </a:rPr>
              <a:t>•  Product cards and search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5552" y="3127248"/>
            <a:ext cx="338328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B1C4C2"/>
                </a:solidFill>
                <a:latin typeface="Aptos"/>
              </a:rPr>
              <a:t>•  Category filters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45552" y="3602736"/>
            <a:ext cx="338328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B1C4C2"/>
                </a:solidFill>
                <a:latin typeface="Aptos"/>
              </a:rPr>
              <a:t>•  Detailed product pages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45552" y="4078224"/>
            <a:ext cx="338328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B1C4C2"/>
                </a:solidFill>
                <a:latin typeface="Aptos"/>
              </a:rPr>
              <a:t>•  Personal listings 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45552" y="4553712"/>
            <a:ext cx="338328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B1C4C2"/>
                </a:solidFill>
                <a:latin typeface="Aptos"/>
              </a:rPr>
              <a:t>•  Admin management 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5440680"/>
            <a:ext cx="347472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FFAE66"/>
                </a:solidFill>
                <a:latin typeface="Aptos"/>
              </a:rPr>
              <a:t>Illustrative UI concept — not a live browser screenshot.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BC290"/>
                </a:solidFill>
                <a:latin typeface="Aptos"/>
              </a:rPr>
              <a:t>IMPACT &amp;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45720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1100" b="1" i="0">
                <a:solidFill>
                  <a:srgbClr val="B1C4C2"/>
                </a:solidFill>
                <a:latin typeface="Aptos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927080" cy="16459"/>
          </a:xfrm>
          <a:prstGeom prst="rect">
            <a:avLst/>
          </a:prstGeom>
          <a:solidFill>
            <a:srgbClr val="435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900" b="1" i="0">
                <a:solidFill>
                  <a:srgbClr val="F6F9F7"/>
                </a:solidFill>
                <a:latin typeface="Aptos"/>
              </a:rPr>
              <a:t>Value created by ReWear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1051560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B1C4C2"/>
                </a:solidFill>
                <a:latin typeface="Aptos"/>
              </a:rPr>
              <a:t>A practical idea with economic, environmental and community benefits.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3429000" cy="2286000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64008" cy="2286000"/>
          </a:xfrm>
          <a:prstGeom prst="rect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313432"/>
            <a:ext cx="438912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5BC29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313432"/>
            <a:ext cx="2514600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F6F9F7"/>
                </a:solidFill>
                <a:latin typeface="Aptos"/>
              </a:rPr>
              <a:t>Save money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807208"/>
            <a:ext cx="2971800" cy="15361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Buyers can explore lower-cost alternatives to new products.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48840"/>
            <a:ext cx="3429000" cy="2286000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148840"/>
            <a:ext cx="64008" cy="2286000"/>
          </a:xfrm>
          <a:prstGeom prst="rect">
            <a:avLst/>
          </a:prstGeom>
          <a:solidFill>
            <a:srgbClr val="FFA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313432"/>
            <a:ext cx="438912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FFAE66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313432"/>
            <a:ext cx="2514600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F6F9F7"/>
                </a:solidFill>
                <a:latin typeface="Aptos"/>
              </a:rPr>
              <a:t>Extend product life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2807208"/>
            <a:ext cx="2971800" cy="15361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Reusable goods stay useful longer instead of being discarded.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148840"/>
            <a:ext cx="3429000" cy="2286000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2148840"/>
            <a:ext cx="64008" cy="2286000"/>
          </a:xfrm>
          <a:prstGeom prst="rect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2313432"/>
            <a:ext cx="438912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5BC290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313432"/>
            <a:ext cx="2514600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F6F9F7"/>
                </a:solidFill>
                <a:latin typeface="Aptos"/>
              </a:rPr>
              <a:t>Support reuse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2807208"/>
            <a:ext cx="2971800" cy="15361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A marketplace can make local exchange more accessible.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74920"/>
            <a:ext cx="1024128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200" b="0" i="0">
                <a:solidFill>
                  <a:srgbClr val="B1C4C2"/>
                </a:solidFill>
                <a:latin typeface="Aptos"/>
              </a:rPr>
              <a:t>Impact depends on adoption, item quality, safe exchanges and responsible user behavior.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BC290"/>
                </a:solidFill>
                <a:latin typeface="Aptos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45720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1100" b="1" i="0">
                <a:solidFill>
                  <a:srgbClr val="B1C4C2"/>
                </a:solidFill>
                <a:latin typeface="Aptos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927080" cy="16459"/>
          </a:xfrm>
          <a:prstGeom prst="rect">
            <a:avLst/>
          </a:prstGeom>
          <a:solidFill>
            <a:srgbClr val="435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900" b="1" i="0">
                <a:solidFill>
                  <a:srgbClr val="F6F9F7"/>
                </a:solidFill>
                <a:latin typeface="Aptos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1051560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B1C4C2"/>
                </a:solidFill>
                <a:latin typeface="Aptos"/>
              </a:rPr>
              <a:t>A path from starter project to a more complete marketplace.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1325880" cy="566928"/>
          </a:xfrm>
          <a:prstGeom prst="roundRect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12264"/>
            <a:ext cx="11430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000" b="1" i="0">
                <a:solidFill>
                  <a:srgbClr val="0F1C23"/>
                </a:solidFill>
                <a:latin typeface="Aptos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993391"/>
            <a:ext cx="2468880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6F9F7"/>
                </a:solidFill>
                <a:latin typeface="Aptos"/>
              </a:rPr>
              <a:t>Core marketplace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011679"/>
            <a:ext cx="612648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Listings, search, authentication and dashboards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07791"/>
            <a:ext cx="1325880" cy="566928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54096"/>
            <a:ext cx="11430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000" b="1" i="0">
                <a:solidFill>
                  <a:srgbClr val="FFAE66"/>
                </a:solidFill>
                <a:latin typeface="Aptos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935223"/>
            <a:ext cx="2468880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6F9F7"/>
                </a:solidFill>
                <a:latin typeface="Aptos"/>
              </a:rPr>
              <a:t>Trust &amp; 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953511"/>
            <a:ext cx="612648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Report listings, moderation and seller verification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849624"/>
            <a:ext cx="1325880" cy="566928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995928"/>
            <a:ext cx="11430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000" b="1" i="0">
                <a:solidFill>
                  <a:srgbClr val="FFAE66"/>
                </a:solidFill>
                <a:latin typeface="Aptos"/>
              </a:rPr>
              <a:t>LATER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3877056"/>
            <a:ext cx="2468880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6F9F7"/>
                </a:solidFill>
                <a:latin typeface="Aptos"/>
              </a:rPr>
              <a:t>Transaction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895344"/>
            <a:ext cx="612648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Wishlist, contact seller and order/status 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791456"/>
            <a:ext cx="1325880" cy="566928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937760"/>
            <a:ext cx="11430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000" b="1" i="0">
                <a:solidFill>
                  <a:srgbClr val="FFAE66"/>
                </a:solidFill>
                <a:latin typeface="Aptos"/>
              </a:rPr>
              <a:t>FUTURE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4818888"/>
            <a:ext cx="2468880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6F9F7"/>
                </a:solidFill>
                <a:latin typeface="Aptos"/>
              </a:rPr>
              <a:t>Production readiness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4837176"/>
            <a:ext cx="612648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Cloud deployment, testing, monitoring and backups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989320"/>
            <a:ext cx="1042416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FFAE66"/>
                </a:solidFill>
                <a:latin typeface="Aptos"/>
              </a:rPr>
              <a:t>Before launch: test authentication, authorization, listing validation and database connectivity.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005840"/>
            <a:ext cx="4297680" cy="4297680"/>
          </a:xfrm>
          <a:prstGeom prst="ellipse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72600" y="-411480"/>
            <a:ext cx="3108960" cy="3108960"/>
          </a:xfrm>
          <a:prstGeom prst="ellipse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182880"/>
            <a:ext cx="1920240" cy="1920240"/>
          </a:xfrm>
          <a:prstGeom prst="ellipse">
            <a:avLst/>
          </a:prstGeom>
          <a:solidFill>
            <a:srgbClr val="0F1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6217920" cy="7772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4400" b="1" i="0">
                <a:solidFill>
                  <a:srgbClr val="F6F9F7"/>
                </a:solidFill>
                <a:latin typeface="Aptos"/>
              </a:rPr>
              <a:t>ReWear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7132320" cy="5486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C1F1D5"/>
                </a:solidFill>
                <a:latin typeface="Aptos"/>
              </a:rPr>
              <a:t>Good finds. Lower waste.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788920"/>
            <a:ext cx="6583680" cy="6400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700" b="0" i="0">
                <a:solidFill>
                  <a:srgbClr val="B1C4C2"/>
                </a:solidFill>
                <a:latin typeface="Aptos"/>
              </a:rPr>
              <a:t>A second-hand marketplace built to make reuse easier.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160520"/>
            <a:ext cx="3063240" cy="658368"/>
          </a:xfrm>
          <a:prstGeom prst="roundRect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52544"/>
            <a:ext cx="278892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0F1C23"/>
                </a:solidFill>
                <a:latin typeface="Aptos"/>
              </a:rPr>
              <a:t>THANK YOU  •  Q&amp;A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6080760"/>
            <a:ext cx="512064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B1C4C2"/>
                </a:solidFill>
                <a:latin typeface="Aptos"/>
              </a:rPr>
              <a:t>Problem Statement 57  |  MERN Stack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ReWear — Second-Hand Product Marketplace</dc:title>
  <dc:subject>Hackathon project presentation</dc:subject>
  <dc:creator>OpenAI</dc:creator>
  <cp:keywords>ReWear, second-hand marketplace, MERN, hackathon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